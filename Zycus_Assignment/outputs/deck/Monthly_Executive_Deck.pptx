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Health — Monthly Executive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Reporting period: July 2026</a:t>
            </a:r>
          </a:p>
          <a:p>
            <a:r>
              <a:t>Portfolio: UniSan S2P, Titan S2P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RAG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RAG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Composite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Primary Driver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UniSan S2P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38A00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Weighted composite (63.2/100)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Titan S2P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C5221F"/>
                          </a:solidFill>
                        </a:defRPr>
                      </a:pPr>
                      <a: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Milestone(s) overdue by more than 10 days without completion: Configuration and Build phase, Hyper Care(Measure and Adoption) Solution.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Cross-Project Trends &amp; Recurring 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Recurring across both projects:</a:t>
            </a:r>
          </a:p>
          <a:p>
            <a:pPr>
              <a:defRPr sz="1800"/>
            </a:pPr>
            <a:r>
              <a:t>  - Milestone delays</a:t>
            </a:r>
          </a:p>
          <a:p>
            <a:pPr>
              <a:defRPr sz="1800"/>
            </a:pPr>
            <a:r>
              <a:t>  - Stakeholder sentiment / communication</a:t>
            </a:r>
          </a:p>
          <a:p>
            <a:pPr>
              <a:defRPr sz="1800"/>
            </a:pPr>
            <a:r>
              <a:t>  - Data quality gaps</a:t>
            </a:r>
          </a:p>
          <a:p>
            <a:pPr>
              <a:defRPr sz="1800"/>
            </a:pPr>
            <a:r>
              <a:t>Project-specific themes:</a:t>
            </a:r>
          </a:p>
          <a:p>
            <a:pPr>
              <a:defRPr sz="1800"/>
            </a:pPr>
            <a:r>
              <a:t>  - Schedule slippage (Titan S2P)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This is a first synthesis across two projects with one time-snapshot each -- these are cross-project patterns to date, not a fabricated multi-period trend 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Emerging Risks (Ranked)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Milestone delays: [Both projects] Milestone health is scored low, indicating potential delays or roadblocks in the project timeline.</a:t>
            </a:r>
          </a:p>
          <a:p>
            <a:pPr>
              <a:defRPr sz="1800"/>
            </a:pPr>
            <a:r>
              <a:t>Stakeholder sentiment / communication: [Both projects] Stakeholder sentiment is neutral, but the lack of comments may indicate dissatisfaction or disengagement.</a:t>
            </a:r>
          </a:p>
          <a:p>
            <a:pPr>
              <a:defRPr sz="1800"/>
            </a:pPr>
            <a:r>
              <a:t>Data quality gaps: [Titan S2P] Potential for additional, unseen risks due to data gaps</a:t>
            </a:r>
          </a:p>
          <a:p>
            <a:pPr>
              <a:defRPr sz="1800"/>
            </a:pPr>
            <a:r>
              <a:t>Schedule slippage: [Titan S2P] Dependencies and pending tasks causing further delays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Compact Project Snapshots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%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Top Risk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UniSan S2P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38A00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Milestone health is scored low, indicating potential delays or roadblocks in the project timeline.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Titan S2P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C5221F"/>
                          </a:solidFill>
                        </a:defRPr>
                      </a:pPr>
                      <a: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Project timeline delays due to overdue milestones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[UniSan S2P] Investigate and address the causes of milestone health issues to prevent further delays.</a:t>
            </a:r>
          </a:p>
          <a:p>
            <a:pPr>
              <a:defRPr sz="1800"/>
            </a:pPr>
            <a:r>
              <a:t>[UniSan S2P] Engage with stakeholders to gather feedback and improve sentiment.</a:t>
            </a:r>
          </a:p>
          <a:p>
            <a:pPr>
              <a:defRPr sz="1800"/>
            </a:pPr>
            <a:r>
              <a:t>[UniSan S2P] Review and refine project data collection processes to minimize gaps and ensure accurate health assessments.</a:t>
            </a:r>
          </a:p>
          <a:p>
            <a:pPr>
              <a:defRPr sz="1800"/>
            </a:pPr>
            <a:r>
              <a:t>[Titan S2P] Prioritize and complete pending tasks, such as JDE mapping and OTK sample provision</a:t>
            </a:r>
          </a:p>
          <a:p>
            <a:pPr>
              <a:defRPr sz="1800"/>
            </a:pPr>
            <a:r>
              <a:t>Portfolio-wide: stand up the weekly automated reporting cadence (config/schedule.yaml, docs/schedule.md) so RAG drift is caught between monthly reviews.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